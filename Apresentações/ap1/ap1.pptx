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3" r:id="rId3"/>
    <p:sldId id="274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5" r:id="rId13"/>
    <p:sldId id="284" r:id="rId14"/>
    <p:sldId id="286" r:id="rId15"/>
    <p:sldId id="289" r:id="rId16"/>
    <p:sldId id="290" r:id="rId17"/>
    <p:sldId id="291" r:id="rId18"/>
    <p:sldId id="292" r:id="rId19"/>
    <p:sldId id="258" r:id="rId20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2707B"/>
    <a:srgbClr val="5C6B77"/>
    <a:srgbClr val="506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howGuides="1">
      <p:cViewPr>
        <p:scale>
          <a:sx n="72" d="100"/>
          <a:sy n="72" d="100"/>
        </p:scale>
        <p:origin x="1104" y="25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2" d="100"/>
          <a:sy n="72" d="100"/>
        </p:scale>
        <p:origin x="4146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981B7D-53F6-4039-A8FA-44779F95F4C7}" type="datetime1">
              <a:rPr lang="pt-BR" smtClean="0"/>
              <a:t>21/03/2026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4360E59-1627-4404-ACC5-51C744AB0F2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FD1732DB-6DE7-4ED0-8D58-5BB99683AAF5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4" name="Espaço reservado para 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841221E5-7225-48EB-A4EE-420E7BFCF705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3436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8565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9233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9687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5609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1166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37204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3312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8735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2269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2362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2226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0082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0256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3659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31827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23862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4705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41221E5-7225-48EB-A4EE-420E7BFCF705}" type="slidenum">
              <a:rPr lang="pt-BR" smtClean="0"/>
              <a:pPr rtl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8422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0" name="Retângulo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1" name="Retângulo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2" name="Retângulo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13" name="Conector reto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15" name="Conector reto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 rtlCol="0">
            <a:noAutofit/>
          </a:bodyPr>
          <a:lstStyle>
            <a:lvl1pPr>
              <a:defRPr sz="540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AEFE8A07-BE7E-486B-BB6D-37077AACAD92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5486B6-A73D-4B8F-83D6-D9AC60E0479B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0" name="Retângulo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4" name="Retângulo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1" name="Retângulo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22" name="Conector reto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  <a:extLst/>
        </p:spPr>
        <p:txBody>
          <a:bodyPr vert="horz" wrap="square" lIns="121899" tIns="60949" rIns="121899" bIns="60949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cxnSp>
        <p:nvCxnSpPr>
          <p:cNvPr id="23" name="Conector reto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tângulo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7" name="Retângulo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8" name="Retângulo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29" name="Retângulo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30" name="Retângulo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31" name="Conector reto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33" name="Conector reto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EBBB5E5B-F3F8-4810-8BA6-9A32C99FBA53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8325B8-6816-4ECB-949F-F9D65FA27766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rtlCol="0"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9AD37B-9B4E-40B8-B2FD-963F90BA8EF4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9666B81-3F0F-4225-B123-405B9F5CEABA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6" name="Retângulo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cxnSp>
        <p:nvCxnSpPr>
          <p:cNvPr id="7" name="Conector reto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D6C805-8419-44A5-85BF-5D1C68D15222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936704B-E432-4339-97E3-AB4AC11D2F2E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8" name="Retângulo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rtlCol="0"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 rtlCol="0"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 rtlCol="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07B3CC04-66F6-41ED-A1FB-ED4B01CF015A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  <p:cxnSp>
        <p:nvCxnSpPr>
          <p:cNvPr id="10" name="Conector reto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59BB7D-2155-48F5-AD4A-A4A3EC901849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0" name="Retângulo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11" name="Conector reto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 rtlCol="0"/>
          <a:lstStyle/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61E51A-BD37-4956-ABA8-D4D5FB5F24C2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DC1BBB0-96F0-4077-A278-0F3FB5C1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 rtl="0"/>
            <a:endParaRPr lang="pt-BR" noProof="0" dirty="0"/>
          </a:p>
        </p:txBody>
      </p:sp>
      <p:sp>
        <p:nvSpPr>
          <p:cNvPr id="8" name="Retângulo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9" name="Retângulo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pt-BR" noProof="0" dirty="0"/>
          </a:p>
        </p:txBody>
      </p:sp>
      <p:sp>
        <p:nvSpPr>
          <p:cNvPr id="13" name="Retângulo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14" name="Conector reto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pt-BR" noProof="0" dirty="0"/>
          </a:p>
        </p:txBody>
      </p:sp>
      <p:cxnSp>
        <p:nvCxnSpPr>
          <p:cNvPr id="16" name="Conector reto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35B82636-8409-46FE-AEF6-9C2E988E9D0B}" type="datetime1">
              <a:rPr lang="pt-BR" noProof="0" smtClean="0"/>
              <a:t>21/03/2026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pPr rtl="0"/>
            <a:fld id="{7DC1BBB0-96F0-4077-A278-0F3FB5C104D3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21614" y="426337"/>
            <a:ext cx="9354375" cy="2680127"/>
          </a:xfrm>
        </p:spPr>
        <p:txBody>
          <a:bodyPr rtlCol="0"/>
          <a:lstStyle/>
          <a:p>
            <a:pPr rtl="0"/>
            <a:r>
              <a:rPr lang="pt-BR" sz="4400" dirty="0"/>
              <a:t>Modelagem de rede hidráulica a partir de álgebra linear computacional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89956" y="3125137"/>
            <a:ext cx="9073008" cy="2680127"/>
          </a:xfrm>
        </p:spPr>
        <p:txBody>
          <a:bodyPr rtlCol="0">
            <a:noAutofit/>
          </a:bodyPr>
          <a:lstStyle/>
          <a:p>
            <a:r>
              <a:rPr lang="pt-BR" sz="1800" dirty="0">
                <a:solidFill>
                  <a:schemeClr val="tx2"/>
                </a:solidFill>
              </a:rPr>
              <a:t>Disciplina: SME0602 — Motores Numéricos para Simulação em Engenharia</a:t>
            </a:r>
          </a:p>
          <a:p>
            <a:r>
              <a:rPr lang="pt-BR" sz="1800" dirty="0">
                <a:solidFill>
                  <a:schemeClr val="tx2"/>
                </a:solidFill>
              </a:rPr>
              <a:t>Professor: Roberto F. </a:t>
            </a:r>
            <a:r>
              <a:rPr lang="pt-BR" sz="1800" dirty="0" err="1">
                <a:solidFill>
                  <a:schemeClr val="tx2"/>
                </a:solidFill>
              </a:rPr>
              <a:t>Ausas</a:t>
            </a:r>
            <a:endParaRPr lang="pt-BR" sz="1800" dirty="0">
              <a:solidFill>
                <a:schemeClr val="tx2"/>
              </a:solidFill>
            </a:endParaRPr>
          </a:p>
          <a:p>
            <a:r>
              <a:rPr lang="pt-BR" sz="1800" dirty="0">
                <a:solidFill>
                  <a:schemeClr val="tx2"/>
                </a:solidFill>
              </a:rPr>
              <a:t>Grupo 3: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2"/>
                </a:solidFill>
              </a:rPr>
              <a:t>Beatriz </a:t>
            </a:r>
            <a:r>
              <a:rPr lang="pt-BR" sz="1800" dirty="0" err="1">
                <a:solidFill>
                  <a:schemeClr val="tx2"/>
                </a:solidFill>
              </a:rPr>
              <a:t>Cosimatti</a:t>
            </a:r>
            <a:endParaRPr lang="pt-BR" sz="1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2"/>
                </a:solidFill>
              </a:rPr>
              <a:t>Cecilia Queiroz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2"/>
                </a:solidFill>
              </a:rPr>
              <a:t>Gabriel </a:t>
            </a:r>
            <a:r>
              <a:rPr lang="pt-BR" sz="1800" dirty="0" err="1">
                <a:solidFill>
                  <a:schemeClr val="tx2"/>
                </a:solidFill>
              </a:rPr>
              <a:t>Zago</a:t>
            </a:r>
            <a:endParaRPr lang="pt-BR" sz="1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2"/>
                </a:solidFill>
              </a:rPr>
              <a:t>Matheus </a:t>
            </a:r>
            <a:r>
              <a:rPr lang="pt-BR" sz="1800" dirty="0" err="1">
                <a:solidFill>
                  <a:schemeClr val="tx2"/>
                </a:solidFill>
              </a:rPr>
              <a:t>Buzzon</a:t>
            </a:r>
            <a:endParaRPr lang="pt-BR" sz="1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2"/>
                </a:solidFill>
              </a:rPr>
              <a:t>Pedro Vale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tx2"/>
                </a:solidFill>
              </a:rPr>
              <a:t>Victor Silva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chemeClr val="tx2"/>
              </a:solidFill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E1D1A3-56A7-45F5-A3FE-190D9D83B63F}"/>
              </a:ext>
            </a:extLst>
          </p:cNvPr>
          <p:cNvSpPr/>
          <p:nvPr/>
        </p:nvSpPr>
        <p:spPr>
          <a:xfrm>
            <a:off x="117748" y="5805264"/>
            <a:ext cx="1008112" cy="936104"/>
          </a:xfrm>
          <a:prstGeom prst="rect">
            <a:avLst/>
          </a:prstGeom>
          <a:solidFill>
            <a:srgbClr val="5060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SCAPINST">
            <a:extLst>
              <a:ext uri="{FF2B5EF4-FFF2-40B4-BE49-F238E27FC236}">
                <a16:creationId xmlns:a16="http://schemas.microsoft.com/office/drawing/2014/main" id="{7A9F8BA4-2D34-425D-BF91-E4DCB62BA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444"/>
    </mc:Choice>
    <mc:Fallback>
      <p:transition advTm="144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Estrutura dos arquivos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BCCF7762-A932-47DA-8486-9F06DF53DFFE}"/>
              </a:ext>
            </a:extLst>
          </p:cNvPr>
          <p:cNvCxnSpPr>
            <a:cxnSpLocks/>
          </p:cNvCxnSpPr>
          <p:nvPr/>
        </p:nvCxnSpPr>
        <p:spPr>
          <a:xfrm>
            <a:off x="2061964" y="1916831"/>
            <a:ext cx="0" cy="216024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38A02E1D-E25E-4FF6-9E2A-7501EFAB29E8}"/>
              </a:ext>
            </a:extLst>
          </p:cNvPr>
          <p:cNvCxnSpPr>
            <a:cxnSpLocks/>
          </p:cNvCxnSpPr>
          <p:nvPr/>
        </p:nvCxnSpPr>
        <p:spPr>
          <a:xfrm rot="5400000">
            <a:off x="2259964" y="3879071"/>
            <a:ext cx="0" cy="396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74894DF-9E73-4C21-A5F2-DD6D31972ED9}"/>
              </a:ext>
            </a:extLst>
          </p:cNvPr>
          <p:cNvCxnSpPr>
            <a:cxnSpLocks/>
          </p:cNvCxnSpPr>
          <p:nvPr/>
        </p:nvCxnSpPr>
        <p:spPr>
          <a:xfrm rot="5400000">
            <a:off x="2259964" y="3483028"/>
            <a:ext cx="0" cy="396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4B4847A-8404-44CE-9AD4-86FDFDE0749E}"/>
              </a:ext>
            </a:extLst>
          </p:cNvPr>
          <p:cNvCxnSpPr>
            <a:cxnSpLocks/>
          </p:cNvCxnSpPr>
          <p:nvPr/>
        </p:nvCxnSpPr>
        <p:spPr>
          <a:xfrm rot="5400000">
            <a:off x="2259964" y="3086984"/>
            <a:ext cx="0" cy="396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DE8ABDE-C3C2-4156-A3DA-9F02B4EBC180}"/>
              </a:ext>
            </a:extLst>
          </p:cNvPr>
          <p:cNvCxnSpPr>
            <a:cxnSpLocks/>
          </p:cNvCxnSpPr>
          <p:nvPr/>
        </p:nvCxnSpPr>
        <p:spPr>
          <a:xfrm rot="5400000">
            <a:off x="2259964" y="2690940"/>
            <a:ext cx="0" cy="396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4FB8EDB-5B6F-403E-B03E-C1F0EF86B773}"/>
              </a:ext>
            </a:extLst>
          </p:cNvPr>
          <p:cNvCxnSpPr>
            <a:cxnSpLocks/>
          </p:cNvCxnSpPr>
          <p:nvPr/>
        </p:nvCxnSpPr>
        <p:spPr>
          <a:xfrm rot="5400000">
            <a:off x="2259964" y="2294896"/>
            <a:ext cx="0" cy="396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A1BA7DF-78E3-473A-85FE-89035029A070}"/>
              </a:ext>
            </a:extLst>
          </p:cNvPr>
          <p:cNvSpPr txBox="1"/>
          <p:nvPr/>
        </p:nvSpPr>
        <p:spPr>
          <a:xfrm>
            <a:off x="2422004" y="3867550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app.py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0C7DA04-AB54-4994-9CDA-CFC638706989}"/>
              </a:ext>
            </a:extLst>
          </p:cNvPr>
          <p:cNvSpPr txBox="1"/>
          <p:nvPr/>
        </p:nvSpPr>
        <p:spPr>
          <a:xfrm>
            <a:off x="2422004" y="2276872"/>
            <a:ext cx="2125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data_structures.py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CBBD8BE-5CB6-4FF5-B08B-B81133A34E44}"/>
              </a:ext>
            </a:extLst>
          </p:cNvPr>
          <p:cNvSpPr txBox="1"/>
          <p:nvPr/>
        </p:nvSpPr>
        <p:spPr>
          <a:xfrm>
            <a:off x="2422004" y="2674542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env.py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02AF356-738F-40A9-ADA8-ABECF951057C}"/>
              </a:ext>
            </a:extLst>
          </p:cNvPr>
          <p:cNvSpPr txBox="1"/>
          <p:nvPr/>
        </p:nvSpPr>
        <p:spPr>
          <a:xfrm>
            <a:off x="2422004" y="3072211"/>
            <a:ext cx="155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hydraulics.py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7CCC9E2-C512-4365-858F-2300FC65CD8E}"/>
              </a:ext>
            </a:extLst>
          </p:cNvPr>
          <p:cNvSpPr txBox="1"/>
          <p:nvPr/>
        </p:nvSpPr>
        <p:spPr>
          <a:xfrm>
            <a:off x="2422004" y="3469881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plotting.py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645FA09-4951-41F2-A3E0-2D86A8A06663}"/>
              </a:ext>
            </a:extLst>
          </p:cNvPr>
          <p:cNvSpPr txBox="1"/>
          <p:nvPr/>
        </p:nvSpPr>
        <p:spPr>
          <a:xfrm>
            <a:off x="5446340" y="3867550"/>
            <a:ext cx="2662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-&gt; Executa a simulação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50F0528-7DA9-4064-A461-561F03157FB2}"/>
              </a:ext>
            </a:extLst>
          </p:cNvPr>
          <p:cNvSpPr txBox="1"/>
          <p:nvPr/>
        </p:nvSpPr>
        <p:spPr>
          <a:xfrm>
            <a:off x="5446340" y="2276872"/>
            <a:ext cx="5128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-&gt; Gera o grafo para modelar a rede hidráulica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33CFE7B-322F-4154-A1FE-9F39D46A084C}"/>
              </a:ext>
            </a:extLst>
          </p:cNvPr>
          <p:cNvSpPr txBox="1"/>
          <p:nvPr/>
        </p:nvSpPr>
        <p:spPr>
          <a:xfrm>
            <a:off x="5446340" y="2674542"/>
            <a:ext cx="603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-&gt; Armazena parâmetros de configuração do sistema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A7D07ED-0C8C-429C-986A-498179C30222}"/>
              </a:ext>
            </a:extLst>
          </p:cNvPr>
          <p:cNvSpPr txBox="1"/>
          <p:nvPr/>
        </p:nvSpPr>
        <p:spPr>
          <a:xfrm>
            <a:off x="5446340" y="3072211"/>
            <a:ext cx="4774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-&gt; Física e álgebra linear da rede hidráulica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E308657-1975-4DB9-B833-E97F8393BB19}"/>
              </a:ext>
            </a:extLst>
          </p:cNvPr>
          <p:cNvSpPr txBox="1"/>
          <p:nvPr/>
        </p:nvSpPr>
        <p:spPr>
          <a:xfrm>
            <a:off x="5446340" y="3469881"/>
            <a:ext cx="3321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-&gt; Visualização de resultados</a:t>
            </a:r>
          </a:p>
        </p:txBody>
      </p:sp>
      <p:pic>
        <p:nvPicPr>
          <p:cNvPr id="26" name="Picture 2" descr="SCAPINST">
            <a:extLst>
              <a:ext uri="{FF2B5EF4-FFF2-40B4-BE49-F238E27FC236}">
                <a16:creationId xmlns:a16="http://schemas.microsoft.com/office/drawing/2014/main" id="{667FC943-7974-4E20-89A1-EB5106AE0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838750"/>
      </p:ext>
    </p:extLst>
  </p:cSld>
  <p:clrMapOvr>
    <a:masterClrMapping/>
  </p:clrMapOvr>
  <p:transition spd="med" advTm="42159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env.py</a:t>
            </a:r>
          </a:p>
        </p:txBody>
      </p:sp>
      <p:sp>
        <p:nvSpPr>
          <p:cNvPr id="28" name="Espaço reservado para conteúdo 13">
            <a:extLst>
              <a:ext uri="{FF2B5EF4-FFF2-40B4-BE49-F238E27FC236}">
                <a16:creationId xmlns:a16="http://schemas.microsoft.com/office/drawing/2014/main" id="{D7ED7845-FFAD-446E-8C67-209A97D35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436" y="1484784"/>
            <a:ext cx="9782801" cy="1108720"/>
          </a:xfrm>
        </p:spPr>
        <p:txBody>
          <a:bodyPr rtlCol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Contém o dicionário CONFIG que centraliza todos os parâmetros físicos e é passado para as classes de simulação com o intuito de evitar hard-</a:t>
            </a:r>
            <a:r>
              <a:rPr lang="pt-BR" sz="2400" dirty="0" err="1"/>
              <a:t>coding</a:t>
            </a:r>
            <a:r>
              <a:rPr lang="pt-BR" sz="2400" dirty="0"/>
              <a:t> e tornar o código mais dinâmico.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F84D6B95-0925-4BBC-8C28-6CE0F211B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995" y="2780928"/>
            <a:ext cx="7996421" cy="3677094"/>
          </a:xfrm>
          <a:prstGeom prst="rect">
            <a:avLst/>
          </a:prstGeom>
        </p:spPr>
      </p:pic>
      <p:pic>
        <p:nvPicPr>
          <p:cNvPr id="31" name="Picture 2" descr="SCAPINST">
            <a:extLst>
              <a:ext uri="{FF2B5EF4-FFF2-40B4-BE49-F238E27FC236}">
                <a16:creationId xmlns:a16="http://schemas.microsoft.com/office/drawing/2014/main" id="{FD64075A-9CA5-4700-927A-225E9D565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16632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885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35907">
        <p159:morph option="byObject"/>
      </p:transition>
    </mc:Choice>
    <mc:Fallback>
      <p:transition spd="slow" advTm="35907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7226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Classe </a:t>
            </a:r>
            <a:r>
              <a:rPr lang="pt-BR" sz="3600" b="1" dirty="0" err="1"/>
              <a:t>Hydraulics</a:t>
            </a:r>
            <a:endParaRPr lang="pt-BR" sz="36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C0CD5E9-2ADA-4FD7-B7AA-1A304EFF2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1772816"/>
            <a:ext cx="5258534" cy="389626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70EC271-700A-4789-8177-47F4D919CA9A}"/>
              </a:ext>
            </a:extLst>
          </p:cNvPr>
          <p:cNvSpPr txBox="1"/>
          <p:nvPr/>
        </p:nvSpPr>
        <p:spPr>
          <a:xfrm>
            <a:off x="7318548" y="1772816"/>
            <a:ext cx="4176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inicialização da classe </a:t>
            </a:r>
            <a:r>
              <a:rPr lang="pt-BR" dirty="0" err="1"/>
              <a:t>Hydraulics</a:t>
            </a:r>
            <a:r>
              <a:rPr lang="pt-BR" dirty="0"/>
              <a:t> recebe: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conec</a:t>
            </a:r>
            <a:r>
              <a:rPr lang="pt-BR" dirty="0"/>
              <a:t> (da função </a:t>
            </a:r>
            <a:r>
              <a:rPr lang="pt-BR" dirty="0" err="1"/>
              <a:t>GeraGrafo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Xno</a:t>
            </a:r>
            <a:r>
              <a:rPr lang="pt-BR" dirty="0"/>
              <a:t> (da função </a:t>
            </a:r>
            <a:r>
              <a:rPr lang="pt-BR" dirty="0" err="1"/>
              <a:t>GeraGrafo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config</a:t>
            </a:r>
            <a:r>
              <a:rPr lang="pt-BR" dirty="0"/>
              <a:t> (do env.py)</a:t>
            </a:r>
          </a:p>
        </p:txBody>
      </p:sp>
      <p:pic>
        <p:nvPicPr>
          <p:cNvPr id="10" name="Picture 2" descr="SCAPINST">
            <a:extLst>
              <a:ext uri="{FF2B5EF4-FFF2-40B4-BE49-F238E27FC236}">
                <a16:creationId xmlns:a16="http://schemas.microsoft.com/office/drawing/2014/main" id="{A552D620-6153-4FEB-9725-D60C97E2C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532057"/>
      </p:ext>
    </p:extLst>
  </p:cSld>
  <p:clrMapOvr>
    <a:masterClrMapping/>
  </p:clrMapOvr>
  <p:transition spd="med" advTm="16402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7226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Classe </a:t>
            </a:r>
            <a:r>
              <a:rPr lang="pt-BR" sz="3600" b="1" dirty="0" err="1"/>
              <a:t>Hydraulics</a:t>
            </a:r>
            <a:endParaRPr lang="pt-BR" sz="36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F5F694-8117-454B-B145-F1DA8AA60944}"/>
              </a:ext>
            </a:extLst>
          </p:cNvPr>
          <p:cNvSpPr txBox="1"/>
          <p:nvPr/>
        </p:nvSpPr>
        <p:spPr>
          <a:xfrm>
            <a:off x="1756817" y="1621327"/>
            <a:ext cx="4269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Métodos similares aos outros projetos:</a:t>
            </a:r>
          </a:p>
        </p:txBody>
      </p:sp>
      <p:graphicFrame>
        <p:nvGraphicFramePr>
          <p:cNvPr id="8" name="Espaço reservado para conteúdo 10">
            <a:extLst>
              <a:ext uri="{FF2B5EF4-FFF2-40B4-BE49-F238E27FC236}">
                <a16:creationId xmlns:a16="http://schemas.microsoft.com/office/drawing/2014/main" id="{9C0F908C-B940-46BF-9745-D4222F94871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1761341"/>
              </p:ext>
            </p:extLst>
          </p:nvPr>
        </p:nvGraphicFramePr>
        <p:xfrm>
          <a:off x="1756817" y="1990659"/>
          <a:ext cx="9433049" cy="47586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90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3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8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rtl="0"/>
                      <a:r>
                        <a:rPr lang="pt-BR" noProof="0" dirty="0"/>
                        <a:t>Método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noProof="0" dirty="0"/>
                        <a:t>Função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noProof="0" dirty="0" err="1"/>
                        <a:t>Return</a:t>
                      </a:r>
                      <a:endParaRPr lang="pt-BR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calculate_conductancy</a:t>
                      </a:r>
                      <a:endParaRPr lang="pt-B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 a condutância hidráulica de cada cano usando a lei do escoamento laminar em dutos</a:t>
                      </a:r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noProof="0" dirty="0"/>
                        <a:t>Vetor C com as condutâncias de cada cano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rtl="0"/>
                      <a:r>
                        <a:rPr lang="pt-BR" noProof="0" dirty="0" err="1"/>
                        <a:t>assembly</a:t>
                      </a:r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Monta a matriz de condutâncias global </a:t>
                      </a:r>
                      <a:r>
                        <a:rPr lang="pt-BR" i="1" dirty="0"/>
                        <a:t>A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da rede, que representa as relações de pressão entre todos os nós.</a:t>
                      </a:r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noProof="0" dirty="0"/>
                        <a:t>Matriz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rtl="0"/>
                      <a:r>
                        <a:rPr lang="pt-BR" noProof="0" dirty="0" err="1"/>
                        <a:t>solve_network</a:t>
                      </a:r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Impõe as condições de contorno e resolve o sistema linear para encontrar as pressões em cada nó.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noProof="0" dirty="0"/>
                        <a:t>Vetor p com as pressões em cada nó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calculate_flow_rate_and_potency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rtl="0"/>
                      <a:endParaRPr lang="pt-BR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 as pressões calculadas, determina a vazão em cada cano e a potência dissipada pela rede.</a:t>
                      </a:r>
                      <a:endParaRPr lang="pt-BR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noProof="0" dirty="0"/>
                        <a:t>Vetor Q: vazões em cada cano </a:t>
                      </a:r>
                    </a:p>
                    <a:p>
                      <a:pPr algn="ctr" rtl="0"/>
                      <a:r>
                        <a:rPr lang="pt-BR" noProof="0" dirty="0" err="1"/>
                        <a:t>Float</a:t>
                      </a:r>
                      <a:r>
                        <a:rPr lang="pt-BR" noProof="0" dirty="0"/>
                        <a:t> W: Potência dissipada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85658"/>
                  </a:ext>
                </a:extLst>
              </a:tr>
            </a:tbl>
          </a:graphicData>
        </a:graphic>
      </p:graphicFrame>
      <p:pic>
        <p:nvPicPr>
          <p:cNvPr id="10" name="Picture 2" descr="SCAPINST">
            <a:extLst>
              <a:ext uri="{FF2B5EF4-FFF2-40B4-BE49-F238E27FC236}">
                <a16:creationId xmlns:a16="http://schemas.microsoft.com/office/drawing/2014/main" id="{2A257DCB-5D13-434C-8340-0C2340C38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390739"/>
      </p:ext>
    </p:extLst>
  </p:cSld>
  <p:clrMapOvr>
    <a:masterClrMapping/>
  </p:clrMapOvr>
  <p:transition spd="slow" advTm="39474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7226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Classe </a:t>
            </a:r>
            <a:r>
              <a:rPr lang="pt-BR" sz="3600" b="1" dirty="0" err="1"/>
              <a:t>Hydraulics</a:t>
            </a:r>
            <a:endParaRPr lang="pt-BR" sz="36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F5F694-8117-454B-B145-F1DA8AA60944}"/>
              </a:ext>
            </a:extLst>
          </p:cNvPr>
          <p:cNvSpPr txBox="1"/>
          <p:nvPr/>
        </p:nvSpPr>
        <p:spPr>
          <a:xfrm>
            <a:off x="1756817" y="1621327"/>
            <a:ext cx="8874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Método </a:t>
            </a:r>
            <a:r>
              <a:rPr lang="pt-BR" dirty="0" err="1"/>
              <a:t>run</a:t>
            </a:r>
            <a:r>
              <a:rPr lang="pt-BR" dirty="0"/>
              <a:t>: Executa toda a simulação e exibe os resultados tanto no terminal, quanto os gráficos.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A4E3C2-C021-412C-8309-FD6C3B2FC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940" y="2420888"/>
            <a:ext cx="8002117" cy="3238952"/>
          </a:xfrm>
          <a:prstGeom prst="rect">
            <a:avLst/>
          </a:prstGeom>
        </p:spPr>
      </p:pic>
      <p:pic>
        <p:nvPicPr>
          <p:cNvPr id="10" name="Picture 2" descr="SCAPINST">
            <a:extLst>
              <a:ext uri="{FF2B5EF4-FFF2-40B4-BE49-F238E27FC236}">
                <a16:creationId xmlns:a16="http://schemas.microsoft.com/office/drawing/2014/main" id="{39EAC22E-CF18-4154-8168-7F93DFE77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109585"/>
      </p:ext>
    </p:extLst>
  </p:cSld>
  <p:clrMapOvr>
    <a:masterClrMapping/>
  </p:clrMapOvr>
  <p:transition spd="slow" advTm="21617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319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Outros casos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F5F694-8117-454B-B145-F1DA8AA60944}"/>
              </a:ext>
            </a:extLst>
          </p:cNvPr>
          <p:cNvSpPr txBox="1"/>
          <p:nvPr/>
        </p:nvSpPr>
        <p:spPr>
          <a:xfrm>
            <a:off x="1756817" y="1621327"/>
            <a:ext cx="88740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encontrar as soluções dos outros casos além da injeção de vazão no nó de </a:t>
            </a:r>
            <a:r>
              <a:rPr lang="pt-BR" dirty="0" err="1"/>
              <a:t>inlet</a:t>
            </a:r>
            <a:r>
              <a:rPr lang="pt-BR" dirty="0"/>
              <a:t> e a pressão fixada no nó de </a:t>
            </a:r>
            <a:r>
              <a:rPr lang="pt-BR" dirty="0" err="1"/>
              <a:t>outlet</a:t>
            </a:r>
            <a:r>
              <a:rPr lang="pt-BR" dirty="0"/>
              <a:t>, decidimos usar o conceito de </a:t>
            </a:r>
            <a:r>
              <a:rPr lang="pt-BR" b="1" dirty="0"/>
              <a:t>herança de classe.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2F7DDD9-361B-492A-8571-3EB57CE22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817" y="2747795"/>
            <a:ext cx="3391373" cy="381053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7E997D3-2B3E-46AC-8E97-D730E0E73453}"/>
              </a:ext>
            </a:extLst>
          </p:cNvPr>
          <p:cNvSpPr txBox="1"/>
          <p:nvPr/>
        </p:nvSpPr>
        <p:spPr>
          <a:xfrm>
            <a:off x="5662364" y="2747795"/>
            <a:ext cx="5904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Essa técnica permite reutilizar facilmente os métodos  que já foram construídos na classe </a:t>
            </a:r>
            <a:r>
              <a:rPr lang="pt-BR" dirty="0" err="1"/>
              <a:t>Hydraulics</a:t>
            </a:r>
            <a:r>
              <a:rPr lang="pt-BR" dirty="0"/>
              <a:t>, e apenas alterar os pedaços relevantes para os novos problemas.</a:t>
            </a:r>
          </a:p>
        </p:txBody>
      </p:sp>
      <p:pic>
        <p:nvPicPr>
          <p:cNvPr id="9" name="Picture 2" descr="SCAPINST">
            <a:extLst>
              <a:ext uri="{FF2B5EF4-FFF2-40B4-BE49-F238E27FC236}">
                <a16:creationId xmlns:a16="http://schemas.microsoft.com/office/drawing/2014/main" id="{7F1D0F83-642A-423B-A45A-55C0D63A7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4091"/>
      </p:ext>
    </p:extLst>
  </p:cSld>
  <p:clrMapOvr>
    <a:masterClrMapping/>
  </p:clrMapOvr>
  <p:transition spd="slow" advTm="42458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463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Hydraulics_p1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F5F694-8117-454B-B145-F1DA8AA60944}"/>
              </a:ext>
            </a:extLst>
          </p:cNvPr>
          <p:cNvSpPr txBox="1"/>
          <p:nvPr/>
        </p:nvSpPr>
        <p:spPr>
          <a:xfrm>
            <a:off x="1756817" y="1621327"/>
            <a:ext cx="88740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 vez de um único nó de injeção, recebe um dicionário com vários nós e suas respectivas vazões impostas.</a:t>
            </a:r>
          </a:p>
          <a:p>
            <a:endParaRPr lang="pt-BR" dirty="0"/>
          </a:p>
          <a:p>
            <a:r>
              <a:rPr lang="pt-BR" dirty="0"/>
              <a:t>O sistema linear continua sendo  Ã*p = b.</a:t>
            </a:r>
          </a:p>
          <a:p>
            <a:endParaRPr lang="pt-BR" dirty="0"/>
          </a:p>
          <a:p>
            <a:r>
              <a:rPr lang="pt-BR" dirty="0"/>
              <a:t>A única mudança é a forma como o vetor b é construído:</a:t>
            </a:r>
          </a:p>
          <a:p>
            <a:endParaRPr lang="pt-BR" dirty="0"/>
          </a:p>
          <a:p>
            <a:r>
              <a:rPr lang="pt-BR" dirty="0"/>
              <a:t>    Para cada (</a:t>
            </a:r>
            <a:r>
              <a:rPr lang="pt-BR" dirty="0" err="1"/>
              <a:t>nó_k</a:t>
            </a:r>
            <a:r>
              <a:rPr lang="pt-BR" dirty="0"/>
              <a:t>, </a:t>
            </a:r>
            <a:r>
              <a:rPr lang="pt-BR" dirty="0" err="1"/>
              <a:t>Q_k</a:t>
            </a:r>
            <a:r>
              <a:rPr lang="pt-BR" dirty="0"/>
              <a:t>) em INLET_FLOW_DICT:</a:t>
            </a:r>
          </a:p>
          <a:p>
            <a:r>
              <a:rPr lang="pt-BR" dirty="0"/>
              <a:t>        b[</a:t>
            </a:r>
            <a:r>
              <a:rPr lang="pt-BR" dirty="0" err="1"/>
              <a:t>nó_k</a:t>
            </a:r>
            <a:r>
              <a:rPr lang="pt-BR" dirty="0"/>
              <a:t>] = </a:t>
            </a:r>
            <a:r>
              <a:rPr lang="pt-BR" dirty="0" err="1"/>
              <a:t>Q_k</a:t>
            </a:r>
            <a:r>
              <a:rPr lang="pt-BR" dirty="0"/>
              <a:t>           </a:t>
            </a:r>
          </a:p>
          <a:p>
            <a:endParaRPr lang="pt-BR" dirty="0"/>
          </a:p>
        </p:txBody>
      </p:sp>
      <p:pic>
        <p:nvPicPr>
          <p:cNvPr id="9" name="Picture 2" descr="SCAPINST">
            <a:extLst>
              <a:ext uri="{FF2B5EF4-FFF2-40B4-BE49-F238E27FC236}">
                <a16:creationId xmlns:a16="http://schemas.microsoft.com/office/drawing/2014/main" id="{6D2E1B59-EBEF-4C6D-A90F-791AC866E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63356"/>
      </p:ext>
    </p:extLst>
  </p:cSld>
  <p:clrMapOvr>
    <a:masterClrMapping/>
  </p:clrMapOvr>
  <p:transition spd="slow" advTm="38917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463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Hydraulics_p2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F5F694-8117-454B-B145-F1DA8AA60944}"/>
              </a:ext>
            </a:extLst>
          </p:cNvPr>
          <p:cNvSpPr txBox="1"/>
          <p:nvPr/>
        </p:nvSpPr>
        <p:spPr>
          <a:xfrm>
            <a:off x="1756817" y="1621327"/>
            <a:ext cx="88740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Generaliza a condição de saída: em vez de um único nó cuja pressão é definida, recebe um dicionário com vários nós e suas respectivas pressões impostas.</a:t>
            </a:r>
          </a:p>
          <a:p>
            <a:r>
              <a:rPr lang="pt-BR" dirty="0"/>
              <a:t>O sistema linear continua sendo  Ã*p = b.</a:t>
            </a:r>
          </a:p>
          <a:p>
            <a:endParaRPr lang="pt-BR" dirty="0"/>
          </a:p>
          <a:p>
            <a:r>
              <a:rPr lang="pt-BR" dirty="0"/>
              <a:t>As únicas mudanças são a forma como a matriz Ã e o vetor b são construídos:</a:t>
            </a:r>
          </a:p>
          <a:p>
            <a:endParaRPr lang="pt-BR" dirty="0"/>
          </a:p>
          <a:p>
            <a:r>
              <a:rPr lang="pt-BR" dirty="0"/>
              <a:t>    Para cada (</a:t>
            </a:r>
            <a:r>
              <a:rPr lang="pt-BR" dirty="0" err="1"/>
              <a:t>nó_k</a:t>
            </a:r>
            <a:r>
              <a:rPr lang="pt-BR" dirty="0"/>
              <a:t>, </a:t>
            </a:r>
            <a:r>
              <a:rPr lang="pt-BR" dirty="0" err="1"/>
              <a:t>P_k</a:t>
            </a:r>
            <a:r>
              <a:rPr lang="pt-BR" dirty="0"/>
              <a:t>) em INLET_PRESSURE_DICT:</a:t>
            </a:r>
          </a:p>
          <a:p>
            <a:r>
              <a:rPr lang="pt-BR" dirty="0"/>
              <a:t>        Ã[</a:t>
            </a:r>
            <a:r>
              <a:rPr lang="pt-BR" dirty="0" err="1"/>
              <a:t>nó_k</a:t>
            </a:r>
            <a:r>
              <a:rPr lang="pt-BR" dirty="0"/>
              <a:t>, :] = 0		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zera a equação de conservação do nó</a:t>
            </a:r>
          </a:p>
          <a:p>
            <a:r>
              <a:rPr lang="pt-BR" dirty="0"/>
              <a:t>	Ã[</a:t>
            </a:r>
            <a:r>
              <a:rPr lang="pt-BR" dirty="0" err="1"/>
              <a:t>nó_k</a:t>
            </a:r>
            <a:r>
              <a:rPr lang="pt-BR" dirty="0"/>
              <a:t>, </a:t>
            </a:r>
            <a:r>
              <a:rPr lang="pt-BR" dirty="0" err="1"/>
              <a:t>nó_k</a:t>
            </a:r>
            <a:r>
              <a:rPr lang="pt-BR" dirty="0"/>
              <a:t>] = 1	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exceto na diagonal</a:t>
            </a:r>
          </a:p>
          <a:p>
            <a:r>
              <a:rPr lang="pt-BR" dirty="0"/>
              <a:t>	b[</a:t>
            </a:r>
            <a:r>
              <a:rPr lang="pt-BR" dirty="0" err="1"/>
              <a:t>nó_k</a:t>
            </a:r>
            <a:r>
              <a:rPr lang="pt-BR" dirty="0"/>
              <a:t>] = </a:t>
            </a:r>
            <a:r>
              <a:rPr lang="pt-BR" dirty="0" err="1"/>
              <a:t>P_k</a:t>
            </a:r>
            <a:r>
              <a:rPr lang="pt-BR" dirty="0"/>
              <a:t>		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impõe a pressão externa no nó</a:t>
            </a:r>
            <a:r>
              <a:rPr lang="pt-BR" dirty="0"/>
              <a:t>		</a:t>
            </a:r>
          </a:p>
          <a:p>
            <a:r>
              <a:rPr lang="pt-BR" dirty="0"/>
              <a:t>	          </a:t>
            </a:r>
          </a:p>
        </p:txBody>
      </p:sp>
      <p:pic>
        <p:nvPicPr>
          <p:cNvPr id="6" name="Picture 2" descr="SCAPINST">
            <a:extLst>
              <a:ext uri="{FF2B5EF4-FFF2-40B4-BE49-F238E27FC236}">
                <a16:creationId xmlns:a16="http://schemas.microsoft.com/office/drawing/2014/main" id="{C27598B0-F46A-4475-B6F7-0BC66BA5A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44957"/>
      </p:ext>
    </p:extLst>
  </p:cSld>
  <p:clrMapOvr>
    <a:masterClrMapping/>
  </p:clrMapOvr>
  <p:transition spd="slow" advTm="36514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463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Hydraulics_p3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F5F694-8117-454B-B145-F1DA8AA60944}"/>
              </a:ext>
            </a:extLst>
          </p:cNvPr>
          <p:cNvSpPr txBox="1"/>
          <p:nvPr/>
        </p:nvSpPr>
        <p:spPr>
          <a:xfrm>
            <a:off x="1756817" y="1621327"/>
            <a:ext cx="981020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objetivo deste problema é resolver o sistema quando não se sabe a vazão de entrada, mas sabe-se a pressão no nó de entrada e no de saída.</a:t>
            </a:r>
          </a:p>
          <a:p>
            <a:endParaRPr lang="pt-BR" dirty="0"/>
          </a:p>
          <a:p>
            <a:r>
              <a:rPr lang="pt-BR" dirty="0"/>
              <a:t>As únicas mudanças são a forma como a matriz Ã e o vetor b são construídos:</a:t>
            </a:r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linha_inlet</a:t>
            </a:r>
            <a:r>
              <a:rPr lang="pt-BR" dirty="0"/>
              <a:t> = Ã[</a:t>
            </a:r>
            <a:r>
              <a:rPr lang="pt-BR" dirty="0" err="1"/>
              <a:t>node_inlet</a:t>
            </a:r>
            <a:r>
              <a:rPr lang="pt-BR" dirty="0"/>
              <a:t>, :] 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preserva-se a linha do </a:t>
            </a:r>
            <a:r>
              <a:rPr lang="pt-BR" dirty="0" err="1">
                <a:solidFill>
                  <a:schemeClr val="accent2">
                    <a:lumMod val="50000"/>
                  </a:schemeClr>
                </a:solidFill>
              </a:rPr>
              <a:t>inlet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r>
              <a:rPr lang="pt-BR" dirty="0"/>
              <a:t>        Ã[</a:t>
            </a:r>
            <a:r>
              <a:rPr lang="pt-BR" dirty="0" err="1"/>
              <a:t>node_inlet</a:t>
            </a:r>
            <a:r>
              <a:rPr lang="pt-BR" dirty="0"/>
              <a:t>, :] = 0	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zera a equação de conservação do nó</a:t>
            </a:r>
          </a:p>
          <a:p>
            <a:r>
              <a:rPr lang="pt-BR" dirty="0"/>
              <a:t>	Ã[</a:t>
            </a:r>
            <a:r>
              <a:rPr lang="pt-BR" dirty="0" err="1"/>
              <a:t>node_inlet</a:t>
            </a:r>
            <a:r>
              <a:rPr lang="pt-BR" dirty="0"/>
              <a:t>, , </a:t>
            </a:r>
            <a:r>
              <a:rPr lang="pt-BR" dirty="0" err="1"/>
              <a:t>node_inlet</a:t>
            </a:r>
            <a:r>
              <a:rPr lang="pt-BR" dirty="0"/>
              <a:t>, ] = 1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exceto na diagonal</a:t>
            </a:r>
          </a:p>
          <a:p>
            <a:r>
              <a:rPr lang="pt-BR" dirty="0"/>
              <a:t>	b[</a:t>
            </a:r>
            <a:r>
              <a:rPr lang="pt-BR" dirty="0" err="1"/>
              <a:t>node_inlet</a:t>
            </a:r>
            <a:r>
              <a:rPr lang="pt-BR" dirty="0"/>
              <a:t>, ] = P_INLET	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impõe a pressão externa no nó de entrada</a:t>
            </a:r>
          </a:p>
          <a:p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pt-BR" dirty="0"/>
              <a:t>Ã[</a:t>
            </a:r>
            <a:r>
              <a:rPr lang="pt-BR" dirty="0" err="1"/>
              <a:t>node_outlet</a:t>
            </a:r>
            <a:r>
              <a:rPr lang="pt-BR" dirty="0"/>
              <a:t>, :] = 0	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zera a equação de conservação do nó</a:t>
            </a:r>
          </a:p>
          <a:p>
            <a:r>
              <a:rPr lang="pt-BR" dirty="0"/>
              <a:t>	Ã[</a:t>
            </a:r>
            <a:r>
              <a:rPr lang="pt-BR" dirty="0" err="1"/>
              <a:t>node_outlet</a:t>
            </a:r>
            <a:r>
              <a:rPr lang="pt-BR" dirty="0"/>
              <a:t>, , </a:t>
            </a:r>
            <a:r>
              <a:rPr lang="pt-BR" dirty="0" err="1"/>
              <a:t>node_outlet</a:t>
            </a:r>
            <a:r>
              <a:rPr lang="pt-BR" dirty="0"/>
              <a:t>, ] = 1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exceto na diagonal</a:t>
            </a:r>
          </a:p>
          <a:p>
            <a:r>
              <a:rPr lang="pt-BR" dirty="0"/>
              <a:t>	b[</a:t>
            </a:r>
            <a:r>
              <a:rPr lang="pt-BR" dirty="0" err="1"/>
              <a:t>node_outlet</a:t>
            </a:r>
            <a:r>
              <a:rPr lang="pt-BR" dirty="0"/>
              <a:t>, ] = P_OUTLET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impõe a pressão externa no nó de saída</a:t>
            </a:r>
          </a:p>
          <a:p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pt-BR" dirty="0" err="1"/>
              <a:t>pressures</a:t>
            </a:r>
            <a:r>
              <a:rPr lang="pt-BR" dirty="0"/>
              <a:t> = </a:t>
            </a:r>
            <a:r>
              <a:rPr lang="pt-BR" dirty="0" err="1"/>
              <a:t>np.linalg.solve</a:t>
            </a:r>
            <a:r>
              <a:rPr lang="pt-BR" dirty="0"/>
              <a:t>(Ã, b)    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Resolve-se o sistema normalmente</a:t>
            </a:r>
          </a:p>
          <a:p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	</a:t>
            </a:r>
            <a:r>
              <a:rPr lang="pt-BR" dirty="0" err="1"/>
              <a:t>vazão_inlet</a:t>
            </a:r>
            <a:r>
              <a:rPr lang="pt-BR" dirty="0"/>
              <a:t> = np.dot(</a:t>
            </a:r>
            <a:r>
              <a:rPr lang="pt-BR" dirty="0" err="1"/>
              <a:t>linha_inlet</a:t>
            </a:r>
            <a:r>
              <a:rPr lang="pt-BR" dirty="0"/>
              <a:t>, </a:t>
            </a:r>
            <a:r>
              <a:rPr lang="pt-BR" dirty="0" err="1"/>
              <a:t>pressures</a:t>
            </a:r>
            <a:r>
              <a:rPr lang="pt-BR" dirty="0"/>
              <a:t>)	</a:t>
            </a:r>
          </a:p>
          <a:p>
            <a:endParaRPr lang="pt-BR" dirty="0"/>
          </a:p>
        </p:txBody>
      </p:sp>
      <p:pic>
        <p:nvPicPr>
          <p:cNvPr id="5" name="Picture 2" descr="SCAPINST">
            <a:extLst>
              <a:ext uri="{FF2B5EF4-FFF2-40B4-BE49-F238E27FC236}">
                <a16:creationId xmlns:a16="http://schemas.microsoft.com/office/drawing/2014/main" id="{4A281F06-B868-41CB-8C24-E9240F4EF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9591107"/>
      </p:ext>
    </p:extLst>
  </p:cSld>
  <p:clrMapOvr>
    <a:masterClrMapping/>
  </p:clrMapOvr>
  <p:transition spd="slow" advTm="63129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463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Hydraulics_p4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F5F694-8117-454B-B145-F1DA8AA60944}"/>
                  </a:ext>
                </a:extLst>
              </p:cNvPr>
              <p:cNvSpPr txBox="1"/>
              <p:nvPr/>
            </p:nvSpPr>
            <p:spPr>
              <a:xfrm>
                <a:off x="1756817" y="1621327"/>
                <a:ext cx="9810203" cy="4001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Agora, a vazão de entrada em um ponto é uma função trigonométrica do tempo:</a:t>
                </a:r>
              </a:p>
              <a:p>
                <a:endParaRPr lang="pt-B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l-G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000" dirty="0"/>
              </a:p>
              <a:p>
                <a:endParaRPr lang="pt-BR" dirty="0"/>
              </a:p>
              <a:p>
                <a:r>
                  <a:rPr lang="pt-BR" dirty="0"/>
                  <a:t>Portanto, o sistema linear que deveríamos resolver seria:</a:t>
                </a:r>
              </a:p>
              <a:p>
                <a:endParaRPr lang="pt-BR" dirty="0"/>
              </a:p>
              <a:p>
                <a:pPr algn="ctr"/>
                <a:r>
                  <a:rPr lang="pt-BR" dirty="0"/>
                  <a:t>Ã * p(t) = b(t)</a:t>
                </a:r>
              </a:p>
              <a:p>
                <a:endParaRPr lang="pt-BR" dirty="0"/>
              </a:p>
              <a:p>
                <a:r>
                  <a:rPr lang="pt-BR" dirty="0"/>
                  <a:t>Para evitar calcular uma sistema linear para cada t no nosso intervalo de análise, gastando muitos recursos computacionais, usamos a propriedade linear do sistema, a qual permite que nós separássemos o vetor b(t) como:</a:t>
                </a:r>
              </a:p>
              <a:p>
                <a:endParaRPr lang="pt-BR" dirty="0"/>
              </a:p>
              <a:p>
                <a:pPr algn="ctr"/>
                <a:r>
                  <a:rPr lang="pt-BR" dirty="0"/>
                  <a:t> b(t) = </a:t>
                </a:r>
                <a:r>
                  <a:rPr lang="pt-BR" dirty="0" err="1"/>
                  <a:t>b_B</a:t>
                </a:r>
                <a:r>
                  <a:rPr lang="pt-BR" dirty="0"/>
                  <a:t>*</a:t>
                </a:r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𝑠𝑒𝑛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pt-BR" dirty="0"/>
                  <a:t> + </a:t>
                </a:r>
                <a:r>
                  <a:rPr lang="pt-BR" dirty="0" err="1"/>
                  <a:t>b_C</a:t>
                </a:r>
                <a:endParaRPr lang="pt-BR" dirty="0"/>
              </a:p>
              <a:p>
                <a:pPr algn="ctr"/>
                <a:endParaRPr lang="pt-BR" dirty="0"/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F5F694-8117-454B-B145-F1DA8AA60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817" y="1621327"/>
                <a:ext cx="9810203" cy="4001095"/>
              </a:xfrm>
              <a:prstGeom prst="rect">
                <a:avLst/>
              </a:prstGeom>
              <a:blipFill>
                <a:blip r:embed="rId3"/>
                <a:stretch>
                  <a:fillRect l="-497" t="-457" r="-5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SCAPINST">
            <a:extLst>
              <a:ext uri="{FF2B5EF4-FFF2-40B4-BE49-F238E27FC236}">
                <a16:creationId xmlns:a16="http://schemas.microsoft.com/office/drawing/2014/main" id="{B3A0367C-C3BF-4AA6-979B-EBF762F4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786673"/>
      </p:ext>
    </p:extLst>
  </p:cSld>
  <p:clrMapOvr>
    <a:masterClrMapping/>
  </p:clrMapOvr>
  <p:transition spd="slow" advTm="47826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463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Hydraulics_p4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F5F694-8117-454B-B145-F1DA8AA60944}"/>
              </a:ext>
            </a:extLst>
          </p:cNvPr>
          <p:cNvSpPr txBox="1"/>
          <p:nvPr/>
        </p:nvSpPr>
        <p:spPr>
          <a:xfrm>
            <a:off x="1877666" y="1777179"/>
            <a:ext cx="84334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b_B</a:t>
            </a:r>
            <a:r>
              <a:rPr lang="pt-BR" dirty="0"/>
              <a:t>[</a:t>
            </a:r>
            <a:r>
              <a:rPr lang="pt-BR" dirty="0" err="1"/>
              <a:t>node_inlet</a:t>
            </a:r>
            <a:r>
              <a:rPr lang="pt-BR" dirty="0"/>
              <a:t>] = B	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impõe a constante B</a:t>
            </a:r>
          </a:p>
          <a:p>
            <a:r>
              <a:rPr lang="pt-BR" dirty="0" err="1"/>
              <a:t>b_C</a:t>
            </a:r>
            <a:r>
              <a:rPr lang="pt-BR" dirty="0"/>
              <a:t>[</a:t>
            </a:r>
            <a:r>
              <a:rPr lang="pt-BR" dirty="0" err="1"/>
              <a:t>node_inlet</a:t>
            </a:r>
            <a:r>
              <a:rPr lang="pt-BR" dirty="0"/>
              <a:t>] = C	  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impõe a constante C</a:t>
            </a:r>
          </a:p>
          <a:p>
            <a:r>
              <a:rPr lang="pt-BR" dirty="0"/>
              <a:t>	</a:t>
            </a:r>
          </a:p>
          <a:p>
            <a:r>
              <a:rPr lang="pt-BR" dirty="0" err="1"/>
              <a:t>p_B</a:t>
            </a:r>
            <a:r>
              <a:rPr lang="pt-BR" dirty="0"/>
              <a:t> = </a:t>
            </a:r>
            <a:r>
              <a:rPr lang="pt-BR" dirty="0" err="1"/>
              <a:t>np.linalg.solve</a:t>
            </a:r>
            <a:r>
              <a:rPr lang="pt-BR" dirty="0"/>
              <a:t>(Ã, </a:t>
            </a:r>
            <a:r>
              <a:rPr lang="pt-BR" dirty="0" err="1"/>
              <a:t>b_B</a:t>
            </a:r>
            <a:r>
              <a:rPr lang="pt-BR" dirty="0"/>
              <a:t>) 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resolve o sistema para </a:t>
            </a:r>
            <a:r>
              <a:rPr lang="pt-BR" dirty="0" err="1">
                <a:solidFill>
                  <a:schemeClr val="accent2">
                    <a:lumMod val="50000"/>
                  </a:schemeClr>
                </a:solidFill>
              </a:rPr>
              <a:t>b_B</a:t>
            </a:r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 err="1"/>
              <a:t>p_C</a:t>
            </a:r>
            <a:r>
              <a:rPr lang="pt-BR" dirty="0"/>
              <a:t> = </a:t>
            </a:r>
            <a:r>
              <a:rPr lang="pt-BR" dirty="0" err="1"/>
              <a:t>np.linalg.solve</a:t>
            </a:r>
            <a:r>
              <a:rPr lang="pt-BR" dirty="0"/>
              <a:t>(Ã, </a:t>
            </a:r>
            <a:r>
              <a:rPr lang="pt-BR" dirty="0" err="1"/>
              <a:t>b_C</a:t>
            </a:r>
            <a:r>
              <a:rPr lang="pt-BR" dirty="0"/>
              <a:t>)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resolve o sistema para </a:t>
            </a:r>
            <a:r>
              <a:rPr lang="pt-BR" dirty="0" err="1">
                <a:solidFill>
                  <a:schemeClr val="accent2">
                    <a:lumMod val="50000"/>
                  </a:schemeClr>
                </a:solidFill>
              </a:rPr>
              <a:t>b_C</a:t>
            </a:r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/>
              <a:t>	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A60A502-9D90-4D14-9749-4617C810D332}"/>
              </a:ext>
            </a:extLst>
          </p:cNvPr>
          <p:cNvSpPr txBox="1"/>
          <p:nvPr/>
        </p:nvSpPr>
        <p:spPr>
          <a:xfrm>
            <a:off x="1877666" y="4221088"/>
            <a:ext cx="437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Por fim, podemos reconstruir p(t) como: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B8AC93FE-927D-41D5-8872-4F26D7E20E5F}"/>
                  </a:ext>
                </a:extLst>
              </p:cNvPr>
              <p:cNvSpPr/>
              <p:nvPr/>
            </p:nvSpPr>
            <p:spPr>
              <a:xfrm>
                <a:off x="4376611" y="4696308"/>
                <a:ext cx="33981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BR" dirty="0"/>
                  <a:t>p(t) = </a:t>
                </a:r>
                <a:r>
                  <a:rPr lang="pt-BR" dirty="0" err="1"/>
                  <a:t>p_B</a:t>
                </a:r>
                <a:r>
                  <a:rPr lang="pt-BR" dirty="0"/>
                  <a:t>*</a:t>
                </a:r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𝑠𝑒𝑛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err="1"/>
                  <a:t>p_C</a:t>
                </a:r>
                <a:endParaRPr lang="pt-BR" dirty="0"/>
              </a:p>
            </p:txBody>
          </p:sp>
        </mc:Choice>
        <mc:Fallback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B8AC93FE-927D-41D5-8872-4F26D7E20E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611" y="4696308"/>
                <a:ext cx="3398174" cy="369332"/>
              </a:xfrm>
              <a:prstGeom prst="rect">
                <a:avLst/>
              </a:prstGeom>
              <a:blipFill>
                <a:blip r:embed="rId3"/>
                <a:stretch>
                  <a:fillRect l="-1436" t="-3279" r="-1077" b="-295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SCAPINST">
            <a:extLst>
              <a:ext uri="{FF2B5EF4-FFF2-40B4-BE49-F238E27FC236}">
                <a16:creationId xmlns:a16="http://schemas.microsoft.com/office/drawing/2014/main" id="{300D31FB-51BE-4C6F-BA8E-3E7BBE7F8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565257"/>
      </p:ext>
    </p:extLst>
  </p:cSld>
  <p:clrMapOvr>
    <a:masterClrMapping/>
  </p:clrMapOvr>
  <p:transition spd="slow" advTm="23651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463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Hydraulics_p5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F5F694-8117-454B-B145-F1DA8AA60944}"/>
                  </a:ext>
                </a:extLst>
              </p:cNvPr>
              <p:cNvSpPr txBox="1"/>
              <p:nvPr/>
            </p:nvSpPr>
            <p:spPr>
              <a:xfrm>
                <a:off x="1756817" y="1621327"/>
                <a:ext cx="9810203" cy="2326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Agora, a vazão de entrada no nó 0 continua sendo a função de antes, mas vamos injetar outra vazão com outra função trigonométrica no nó 175:</a:t>
                </a:r>
              </a:p>
              <a:p>
                <a:endParaRPr lang="pt-B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_0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𝑠𝑒𝑛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175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Seguindo a mesma estratégia de antes, iremos calcular agora apenas 4 sistemas lineares, um para </a:t>
                </a:r>
                <a:r>
                  <a:rPr lang="pt-BR" dirty="0" err="1"/>
                  <a:t>b_B</a:t>
                </a:r>
                <a:r>
                  <a:rPr lang="pt-BR" dirty="0"/>
                  <a:t>, </a:t>
                </a:r>
                <a:r>
                  <a:rPr lang="pt-BR" dirty="0" err="1"/>
                  <a:t>b_C</a:t>
                </a:r>
                <a:r>
                  <a:rPr lang="pt-BR" dirty="0"/>
                  <a:t>, </a:t>
                </a:r>
                <a:r>
                  <a:rPr lang="pt-BR" dirty="0" err="1"/>
                  <a:t>b_D</a:t>
                </a:r>
                <a:r>
                  <a:rPr lang="pt-BR" dirty="0"/>
                  <a:t> e </a:t>
                </a:r>
                <a:r>
                  <a:rPr lang="pt-BR" dirty="0" err="1"/>
                  <a:t>b_E</a:t>
                </a:r>
                <a:r>
                  <a:rPr lang="pt-BR" dirty="0"/>
                  <a:t> e por fim iremos reconstituir p(t).</a:t>
                </a: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F5F694-8117-454B-B145-F1DA8AA60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817" y="1621327"/>
                <a:ext cx="9810203" cy="2326919"/>
              </a:xfrm>
              <a:prstGeom prst="rect">
                <a:avLst/>
              </a:prstGeom>
              <a:blipFill>
                <a:blip r:embed="rId3"/>
                <a:stretch>
                  <a:fillRect l="-497" t="-785" b="-39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SCAPINST">
            <a:extLst>
              <a:ext uri="{FF2B5EF4-FFF2-40B4-BE49-F238E27FC236}">
                <a16:creationId xmlns:a16="http://schemas.microsoft.com/office/drawing/2014/main" id="{D2E47365-A89D-4E7E-8E2A-985FE86F0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782282"/>
      </p:ext>
    </p:extLst>
  </p:cSld>
  <p:clrMapOvr>
    <a:masterClrMapping/>
  </p:clrMapOvr>
  <p:transition spd="slow" advTm="19578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463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Hydraulics_p5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54F076E-BF75-4587-B1FB-774CA06CD9C3}"/>
              </a:ext>
            </a:extLst>
          </p:cNvPr>
          <p:cNvSpPr txBox="1"/>
          <p:nvPr/>
        </p:nvSpPr>
        <p:spPr>
          <a:xfrm>
            <a:off x="1989956" y="1430727"/>
            <a:ext cx="72372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r>
              <a:rPr lang="pt-BR" dirty="0" err="1"/>
              <a:t>b_B</a:t>
            </a:r>
            <a:r>
              <a:rPr lang="pt-BR" dirty="0"/>
              <a:t>[</a:t>
            </a:r>
            <a:r>
              <a:rPr lang="pt-BR" dirty="0" err="1"/>
              <a:t>node_inlet_sin</a:t>
            </a:r>
            <a:r>
              <a:rPr lang="pt-BR" dirty="0"/>
              <a:t>] = B	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impõe a constante B</a:t>
            </a:r>
          </a:p>
          <a:p>
            <a:r>
              <a:rPr lang="pt-BR" dirty="0" err="1"/>
              <a:t>b_C</a:t>
            </a:r>
            <a:r>
              <a:rPr lang="pt-BR" dirty="0"/>
              <a:t>[</a:t>
            </a:r>
            <a:r>
              <a:rPr lang="pt-BR" dirty="0" err="1"/>
              <a:t>node_inlet_sin</a:t>
            </a:r>
            <a:r>
              <a:rPr lang="pt-BR" dirty="0"/>
              <a:t>] = C	  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impõe a constante C</a:t>
            </a:r>
          </a:p>
          <a:p>
            <a:r>
              <a:rPr lang="pt-BR" dirty="0" err="1"/>
              <a:t>b_D</a:t>
            </a:r>
            <a:r>
              <a:rPr lang="pt-BR" dirty="0"/>
              <a:t>[</a:t>
            </a:r>
            <a:r>
              <a:rPr lang="pt-BR" dirty="0" err="1"/>
              <a:t>node_inlet_cos</a:t>
            </a:r>
            <a:r>
              <a:rPr lang="pt-BR" dirty="0"/>
              <a:t>] = D	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impõe a constante B</a:t>
            </a:r>
          </a:p>
          <a:p>
            <a:r>
              <a:rPr lang="pt-BR" dirty="0" err="1"/>
              <a:t>b_E</a:t>
            </a:r>
            <a:r>
              <a:rPr lang="pt-BR" dirty="0"/>
              <a:t>[</a:t>
            </a:r>
            <a:r>
              <a:rPr lang="pt-BR" dirty="0" err="1"/>
              <a:t>node_inlet_cos</a:t>
            </a:r>
            <a:r>
              <a:rPr lang="pt-BR" dirty="0"/>
              <a:t>] = E	  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impõe a constante C</a:t>
            </a:r>
          </a:p>
          <a:p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 err="1"/>
              <a:t>p_B</a:t>
            </a:r>
            <a:r>
              <a:rPr lang="pt-BR" dirty="0"/>
              <a:t> = </a:t>
            </a:r>
            <a:r>
              <a:rPr lang="pt-BR" dirty="0" err="1"/>
              <a:t>np.linalg.solve</a:t>
            </a:r>
            <a:r>
              <a:rPr lang="pt-BR" dirty="0"/>
              <a:t>(Ã_0, </a:t>
            </a:r>
            <a:r>
              <a:rPr lang="pt-BR" dirty="0" err="1"/>
              <a:t>b_B</a:t>
            </a:r>
            <a:r>
              <a:rPr lang="pt-BR" dirty="0"/>
              <a:t>) 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resolve o sistema para </a:t>
            </a:r>
            <a:r>
              <a:rPr lang="pt-BR" dirty="0" err="1">
                <a:solidFill>
                  <a:schemeClr val="accent2">
                    <a:lumMod val="50000"/>
                  </a:schemeClr>
                </a:solidFill>
              </a:rPr>
              <a:t>b_B</a:t>
            </a:r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 err="1"/>
              <a:t>p_C</a:t>
            </a:r>
            <a:r>
              <a:rPr lang="pt-BR" dirty="0"/>
              <a:t> = </a:t>
            </a:r>
            <a:r>
              <a:rPr lang="pt-BR" dirty="0" err="1"/>
              <a:t>np.linalg.solve</a:t>
            </a:r>
            <a:r>
              <a:rPr lang="pt-BR" dirty="0"/>
              <a:t>(Ã_0, </a:t>
            </a:r>
            <a:r>
              <a:rPr lang="pt-BR" dirty="0" err="1"/>
              <a:t>b_C</a:t>
            </a:r>
            <a:r>
              <a:rPr lang="pt-BR" dirty="0"/>
              <a:t>)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resolve o sistema para </a:t>
            </a:r>
            <a:r>
              <a:rPr lang="pt-BR" dirty="0" err="1">
                <a:solidFill>
                  <a:schemeClr val="accent2">
                    <a:lumMod val="50000"/>
                  </a:schemeClr>
                </a:solidFill>
              </a:rPr>
              <a:t>b_C</a:t>
            </a:r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 err="1"/>
              <a:t>p_D</a:t>
            </a:r>
            <a:r>
              <a:rPr lang="pt-BR" dirty="0"/>
              <a:t> = </a:t>
            </a:r>
            <a:r>
              <a:rPr lang="pt-BR" dirty="0" err="1"/>
              <a:t>np.linalg.solve</a:t>
            </a:r>
            <a:r>
              <a:rPr lang="pt-BR" dirty="0"/>
              <a:t>(Ã_175, </a:t>
            </a:r>
            <a:r>
              <a:rPr lang="pt-BR" dirty="0" err="1"/>
              <a:t>b_D</a:t>
            </a:r>
            <a:r>
              <a:rPr lang="pt-BR" dirty="0"/>
              <a:t>) 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resolve o sistema para </a:t>
            </a:r>
            <a:r>
              <a:rPr lang="pt-BR" dirty="0" err="1">
                <a:solidFill>
                  <a:schemeClr val="accent2">
                    <a:lumMod val="50000"/>
                  </a:schemeClr>
                </a:solidFill>
              </a:rPr>
              <a:t>b_D</a:t>
            </a:r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 err="1"/>
              <a:t>p_E</a:t>
            </a:r>
            <a:r>
              <a:rPr lang="pt-BR" dirty="0"/>
              <a:t> = </a:t>
            </a:r>
            <a:r>
              <a:rPr lang="pt-BR" dirty="0" err="1"/>
              <a:t>np.linalg.solve</a:t>
            </a:r>
            <a:r>
              <a:rPr lang="pt-BR" dirty="0"/>
              <a:t>(Ã_175, </a:t>
            </a:r>
            <a:r>
              <a:rPr lang="pt-BR" dirty="0" err="1"/>
              <a:t>b_E</a:t>
            </a:r>
            <a:r>
              <a:rPr lang="pt-BR" dirty="0"/>
              <a:t>)	  </a:t>
            </a:r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# resolve o sistema para </a:t>
            </a:r>
            <a:r>
              <a:rPr lang="pt-BR" dirty="0" err="1">
                <a:solidFill>
                  <a:schemeClr val="accent2">
                    <a:lumMod val="50000"/>
                  </a:schemeClr>
                </a:solidFill>
              </a:rPr>
              <a:t>b_E</a:t>
            </a:r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pt-B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pt-BR" dirty="0"/>
              <a:t>	</a:t>
            </a:r>
          </a:p>
        </p:txBody>
      </p:sp>
      <p:pic>
        <p:nvPicPr>
          <p:cNvPr id="9" name="Picture 2" descr="SCAPINST">
            <a:extLst>
              <a:ext uri="{FF2B5EF4-FFF2-40B4-BE49-F238E27FC236}">
                <a16:creationId xmlns:a16="http://schemas.microsoft.com/office/drawing/2014/main" id="{1E125771-1F96-44E6-8E0C-1ADB97CC8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4AFF5BF-E544-4291-B209-8753CC266420}"/>
              </a:ext>
            </a:extLst>
          </p:cNvPr>
          <p:cNvSpPr txBox="1"/>
          <p:nvPr/>
        </p:nvSpPr>
        <p:spPr>
          <a:xfrm>
            <a:off x="1989956" y="4740483"/>
            <a:ext cx="4379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Por fim, podemos reconstruir p(t) como: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E4DD061A-2B9C-4270-8E04-865597595EF0}"/>
                  </a:ext>
                </a:extLst>
              </p:cNvPr>
              <p:cNvSpPr/>
              <p:nvPr/>
            </p:nvSpPr>
            <p:spPr>
              <a:xfrm>
                <a:off x="2988563" y="5089726"/>
                <a:ext cx="67619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pt-BR" dirty="0"/>
                  <a:t>p(t) = </a:t>
                </a:r>
                <a:r>
                  <a:rPr lang="pt-BR" dirty="0" err="1"/>
                  <a:t>p_B</a:t>
                </a:r>
                <a:r>
                  <a:rPr lang="pt-BR" dirty="0"/>
                  <a:t> *</a:t>
                </a:r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𝑠𝑒𝑛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+ </a:t>
                </a:r>
                <a:r>
                  <a:rPr lang="pt-BR" dirty="0" err="1"/>
                  <a:t>p_C</a:t>
                </a:r>
                <a:r>
                  <a:rPr lang="pt-BR" dirty="0"/>
                  <a:t> + </a:t>
                </a:r>
                <a:r>
                  <a:rPr lang="pt-BR" dirty="0" err="1"/>
                  <a:t>p_D</a:t>
                </a:r>
                <a:r>
                  <a:rPr lang="pt-BR" dirty="0"/>
                  <a:t> *</a:t>
                </a:r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dirty="0"/>
                  <a:t> + </a:t>
                </a:r>
                <a:r>
                  <a:rPr lang="pt-BR" dirty="0" err="1"/>
                  <a:t>p_E</a:t>
                </a:r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E4DD061A-2B9C-4270-8E04-865597595E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563" y="5089726"/>
                <a:ext cx="6761980" cy="369332"/>
              </a:xfrm>
              <a:prstGeom prst="rect">
                <a:avLst/>
              </a:prstGeom>
              <a:blipFill>
                <a:blip r:embed="rId4"/>
                <a:stretch>
                  <a:fillRect l="-271" t="-4918" b="-295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927929"/>
      </p:ext>
    </p:extLst>
  </p:cSld>
  <p:clrMapOvr>
    <a:masterClrMapping/>
  </p:clrMapOvr>
  <p:transition spd="slow" advTm="11705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463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Hydraulics_p6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F5F694-8117-454B-B145-F1DA8AA60944}"/>
                  </a:ext>
                </a:extLst>
              </p:cNvPr>
              <p:cNvSpPr txBox="1"/>
              <p:nvPr/>
            </p:nvSpPr>
            <p:spPr>
              <a:xfrm>
                <a:off x="1756817" y="1621327"/>
                <a:ext cx="9810203" cy="3392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Agora, a vazão no </a:t>
                </a:r>
                <a:r>
                  <a:rPr lang="pt-BR" dirty="0" err="1"/>
                  <a:t>inlet</a:t>
                </a:r>
                <a:r>
                  <a:rPr lang="pt-BR" dirty="0"/>
                  <a:t> e a pressão no </a:t>
                </a:r>
                <a:r>
                  <a:rPr lang="pt-BR" dirty="0" err="1"/>
                  <a:t>outlet</a:t>
                </a:r>
                <a:r>
                  <a:rPr lang="pt-BR" dirty="0"/>
                  <a:t> são constantes, mas a viscosidade do fluido é uma função do temperatura, que por sua vez é função do tempo:</a:t>
                </a:r>
              </a:p>
              <a:p>
                <a:endParaRPr lang="pt-BR" dirty="0"/>
              </a:p>
              <a:p>
                <a:pPr algn="ctr"/>
                <a:r>
                  <a:rPr lang="pt-BR" dirty="0"/>
                  <a:t>T(t) = 20 + 0.9t²</a:t>
                </a:r>
              </a:p>
              <a:p>
                <a:pPr algn="ctr"/>
                <a:endParaRPr lang="pt-B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1+0.03368</m:t>
                          </m:r>
                          <m:r>
                            <a:rPr lang="pt-B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+0.00221∙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pt-BR" dirty="0"/>
              </a:p>
              <a:p>
                <a:pPr algn="ctr"/>
                <a:endParaRPr lang="pt-BR" dirty="0"/>
              </a:p>
              <a:p>
                <a:pPr algn="ctr"/>
                <a:endParaRPr lang="pt-BR" dirty="0"/>
              </a:p>
              <a:p>
                <a:r>
                  <a:rPr lang="pt-BR" dirty="0"/>
                  <a:t>Para economizar recursos computacionais, calculamos apenas uma vez para a viscosidade constante usada nos outros problemas e pela classe </a:t>
                </a:r>
                <a:r>
                  <a:rPr lang="pt-BR" dirty="0" err="1"/>
                  <a:t>Hydraulics</a:t>
                </a:r>
                <a:r>
                  <a:rPr lang="pt-BR" dirty="0"/>
                  <a:t>, e depois multiplicamos por um fator de escala para encontrar as pressões naquele tempo de análise.</a:t>
                </a: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F4F5F694-8117-454B-B145-F1DA8AA60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817" y="1621327"/>
                <a:ext cx="9810203" cy="3392852"/>
              </a:xfrm>
              <a:prstGeom prst="rect">
                <a:avLst/>
              </a:prstGeom>
              <a:blipFill>
                <a:blip r:embed="rId3"/>
                <a:stretch>
                  <a:fillRect l="-497" t="-539" r="-994" b="-25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SCAPINST">
            <a:extLst>
              <a:ext uri="{FF2B5EF4-FFF2-40B4-BE49-F238E27FC236}">
                <a16:creationId xmlns:a16="http://schemas.microsoft.com/office/drawing/2014/main" id="{349B4524-B05F-42FA-A20D-3639F7391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196612"/>
      </p:ext>
    </p:extLst>
  </p:cSld>
  <p:clrMapOvr>
    <a:masterClrMapping/>
  </p:clrMapOvr>
  <p:transition spd="slow" advTm="23198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64637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Hydraulics_p6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F5F694-8117-454B-B145-F1DA8AA60944}"/>
              </a:ext>
            </a:extLst>
          </p:cNvPr>
          <p:cNvSpPr txBox="1"/>
          <p:nvPr/>
        </p:nvSpPr>
        <p:spPr>
          <a:xfrm>
            <a:off x="1756817" y="1621327"/>
            <a:ext cx="981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114983F-DA6A-448F-8CFF-B8693DD29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892" y="1700808"/>
            <a:ext cx="10294542" cy="4896544"/>
          </a:xfrm>
          <a:prstGeom prst="rect">
            <a:avLst/>
          </a:prstGeom>
        </p:spPr>
      </p:pic>
      <p:pic>
        <p:nvPicPr>
          <p:cNvPr id="6" name="Picture 2" descr="SCAPINST">
            <a:extLst>
              <a:ext uri="{FF2B5EF4-FFF2-40B4-BE49-F238E27FC236}">
                <a16:creationId xmlns:a16="http://schemas.microsoft.com/office/drawing/2014/main" id="{483943B5-2AFD-49F2-87E8-E2684F0E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179318"/>
      </p:ext>
    </p:extLst>
  </p:cSld>
  <p:clrMapOvr>
    <a:masterClrMapping/>
  </p:clrMapOvr>
  <p:transition spd="slow" advTm="51340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8760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hydraulics.py – Análise de complexidade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4F5F694-8117-454B-B145-F1DA8AA60944}"/>
              </a:ext>
            </a:extLst>
          </p:cNvPr>
          <p:cNvSpPr txBox="1"/>
          <p:nvPr/>
        </p:nvSpPr>
        <p:spPr>
          <a:xfrm>
            <a:off x="8830716" y="1916832"/>
            <a:ext cx="28709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Função que recebe uma instância de classe hidráulica e calcula o tempo de execução para cada nível</a:t>
            </a:r>
          </a:p>
        </p:txBody>
      </p:sp>
      <p:pic>
        <p:nvPicPr>
          <p:cNvPr id="7" name="Picture 2" descr="SCAPINST">
            <a:extLst>
              <a:ext uri="{FF2B5EF4-FFF2-40B4-BE49-F238E27FC236}">
                <a16:creationId xmlns:a16="http://schemas.microsoft.com/office/drawing/2014/main" id="{BD9E2B73-8C2A-46B1-BACF-74B1AD42F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7B1343D-50EE-4621-8E0B-A1D09EB89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201" y="1642329"/>
            <a:ext cx="7049484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73791"/>
      </p:ext>
    </p:extLst>
  </p:cSld>
  <p:clrMapOvr>
    <a:masterClrMapping/>
  </p:clrMapOvr>
  <p:transition spd="slow" advTm="36825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D3D4329-9326-4E0E-8A21-04EA7D63386C}"/>
              </a:ext>
            </a:extLst>
          </p:cNvPr>
          <p:cNvSpPr/>
          <p:nvPr/>
        </p:nvSpPr>
        <p:spPr>
          <a:xfrm>
            <a:off x="693812" y="764704"/>
            <a:ext cx="504056" cy="501066"/>
          </a:xfrm>
          <a:prstGeom prst="rect">
            <a:avLst/>
          </a:prstGeom>
          <a:solidFill>
            <a:srgbClr val="5C6B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530E497-5C31-4926-A5DF-113A93AE18A5}"/>
              </a:ext>
            </a:extLst>
          </p:cNvPr>
          <p:cNvSpPr txBox="1"/>
          <p:nvPr/>
        </p:nvSpPr>
        <p:spPr>
          <a:xfrm>
            <a:off x="1593436" y="771306"/>
            <a:ext cx="7807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/>
              <a:t>app.py – Centralização da execução</a:t>
            </a:r>
          </a:p>
        </p:txBody>
      </p:sp>
      <p:pic>
        <p:nvPicPr>
          <p:cNvPr id="8" name="Picture 2" descr="SCAPINST">
            <a:extLst>
              <a:ext uri="{FF2B5EF4-FFF2-40B4-BE49-F238E27FC236}">
                <a16:creationId xmlns:a16="http://schemas.microsoft.com/office/drawing/2014/main" id="{0B9A8450-4AF9-4C0A-875E-110A78338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12439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FA3ED8E-E2BF-4A51-A671-862F8D98A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924" y="1700808"/>
            <a:ext cx="6049219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17963"/>
      </p:ext>
    </p:extLst>
  </p:cSld>
  <p:clrMapOvr>
    <a:masterClrMapping/>
  </p:clrMapOvr>
  <p:transition spd="med" advTm="36621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9A1175C5-D200-454F-A2E0-6CB8CE4EC304}"/>
              </a:ext>
            </a:extLst>
          </p:cNvPr>
          <p:cNvSpPr txBox="1">
            <a:spLocks/>
          </p:cNvSpPr>
          <p:nvPr/>
        </p:nvSpPr>
        <p:spPr>
          <a:xfrm>
            <a:off x="2401829" y="3086212"/>
            <a:ext cx="7385166" cy="68557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400" dirty="0"/>
              <a:t>Agradecemos pela atenção!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A063668-F7DA-4FAE-AC85-ED87CCE8E633}"/>
              </a:ext>
            </a:extLst>
          </p:cNvPr>
          <p:cNvSpPr/>
          <p:nvPr/>
        </p:nvSpPr>
        <p:spPr>
          <a:xfrm>
            <a:off x="189756" y="5805264"/>
            <a:ext cx="864096" cy="1008112"/>
          </a:xfrm>
          <a:prstGeom prst="rect">
            <a:avLst/>
          </a:prstGeom>
          <a:solidFill>
            <a:srgbClr val="6270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 descr="SCAPINST">
            <a:extLst>
              <a:ext uri="{FF2B5EF4-FFF2-40B4-BE49-F238E27FC236}">
                <a16:creationId xmlns:a16="http://schemas.microsoft.com/office/drawing/2014/main" id="{E06A0908-082B-491E-960B-16094B57C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892" y="764704"/>
            <a:ext cx="1428030" cy="643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90314"/>
      </p:ext>
    </p:extLst>
  </p:cSld>
  <p:clrMapOvr>
    <a:masterClrMapping/>
  </p:clrMapOvr>
  <p:transition spd="med" advTm="1859">
    <p:pull/>
  </p:transition>
</p:sld>
</file>

<file path=ppt/theme/theme1.xml><?xml version="1.0" encoding="utf-8"?>
<a:theme xmlns:a="http://schemas.openxmlformats.org/drawingml/2006/main" name="Matemática 16: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057_TF02787947.potx" id="{F6616D8B-E49F-43FC-919C-EA67C56073C6}" vid="{41E3CBBC-B989-484B-85AF-2EEA8BFB5111}"/>
    </a:ext>
  </a:extLst>
</a:theme>
</file>

<file path=ppt/theme/theme2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matemática com Pi (widescreen)</Template>
  <TotalTime>1198</TotalTime>
  <Words>1039</Words>
  <Application>Microsoft Office PowerPoint</Application>
  <PresentationFormat>Personalizar</PresentationFormat>
  <Paragraphs>164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Cambria Math</vt:lpstr>
      <vt:lpstr>Euphemia</vt:lpstr>
      <vt:lpstr>Matemática 16:9</vt:lpstr>
      <vt:lpstr>Modelagem de rede hidráulica a partir de álgebra linear computacional</vt:lpstr>
      <vt:lpstr>Estrutura dos arquivos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de rede hidráulica a partir de álgebra linear computacional</dc:title>
  <dc:creator>C.L Queiroz</dc:creator>
  <cp:lastModifiedBy>C.L Queiroz</cp:lastModifiedBy>
  <cp:revision>31</cp:revision>
  <dcterms:created xsi:type="dcterms:W3CDTF">2026-03-22T00:04:38Z</dcterms:created>
  <dcterms:modified xsi:type="dcterms:W3CDTF">2026-03-22T20:02:50Z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